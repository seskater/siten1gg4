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Частка ресурсу</c:v>
                </c:pt>
              </c:strCache>
            </c:strRef>
          </c:tx>
          <c:spPr>
            <a:solidFill>
              <a:srgbClr val="D42A3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Дзвінки та AI-обдзвін</c:v>
                  </c:pt>
                  <c:pt idx="1">
                    <c:v>Агенти депутатів</c:v>
                  </c:pt>
                  <c:pt idx="2">
                    <c:v>QR біля будинків</c:v>
                  </c:pt>
                  <c:pt idx="3">
                    <c:v>QR на заходах</c:v>
                  </c:pt>
                  <c:pt idx="4">
                    <c:v>Сайт партії</c:v>
                  </c:pt>
                  <c:pt idx="5">
                    <c:v>Соцмережі та ЗМІ</c:v>
                  </c:pt>
                  <c:pt idx="6">
                    <c:v>Таргетована реклама</c:v>
                  </c:pt>
                  <c:pt idx="7">
                    <c:v>Локальні чати й боти</c:v>
                  </c:pt>
                  <c:pt idx="8">
                    <c:v>E-mail</c:v>
                  </c:pt>
                  <c:pt idx="9">
                    <c:v>Партнерства з НГО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20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E1A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E1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/>
        </a:solidFill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тис. грн</c:v>
                </c:pt>
              </c:strCache>
            </c:strRef>
          </c:tx>
          <c:spPr>
            <a:solidFill>
              <a:srgbClr val="0E1A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Вхідні дзвінки</c:v>
                  </c:pt>
                  <c:pt idx="1">
                    <c:v>Матеріали на 440 точок</c:v>
                  </c:pt>
                  <c:pt idx="2">
                    <c:v>SMS-розсилка</c:v>
                  </c:pt>
                  <c:pt idx="3">
                    <c:v>Соцмережі, 10 районів</c:v>
                  </c:pt>
                  <c:pt idx="4">
                    <c:v>Платформа, 1 місяць</c:v>
                  </c:pt>
                  <c:pt idx="5">
                    <c:v>QR по місту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1350</c:v>
                </c:pt>
                <c:pt idx="1">
                  <c:v>1320</c:v>
                </c:pt>
                <c:pt idx="2">
                  <c:v>800</c:v>
                </c:pt>
                <c:pt idx="3">
                  <c:v>400</c:v>
                </c:pt>
                <c:pt idx="4">
                  <c:v>400</c:v>
                </c:pt>
                <c:pt idx="5">
                  <c:v>120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0E1A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E1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/>
        </a:solidFill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Відкриваємо не продуктом, а обіцянкою: партія, яка присутня 365 днів на рік. Наголосити: це не макет і не концепція — система працює, її можна показати наживо в цій кімнаті.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слайд-дзеркало. Дати аудиторії впізнати себе — майже кожна партія має всі чотири розриви.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 слайду: різниця між «у нас є база» і «у нас є система» — у тому, що кожен стан породжує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найсильніший слайд для демонстрації наживо. Показати вибір шаблону і те, як змінюються цільові організації та список документів. 24 сценарії — це готовий продукт, а не порожня форма.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Світлофор — це те, що перетворює обіцянку «ми допоможемо» на контрольований строк. Саме тут виникає довіра виборця.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Підкреслити: SLA — не декларація, а тригер ескалації. Без строку сегментація нічого не варта.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Якщо в залі є скепсис до AI — показати голосовий віджет наживо. Він переконує швидше за будь-який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 для лідера партії: це не «застосунок для звернень», а машина відбору кадрів. Партія, яка системно готує людей, через два цикли має лаву, якої немає в конкурентів.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Цифри — це модель розподілу ресурсу, а не звіт про досягнуті результати. Проговорити це чесно.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партія має побачити свою власну географію. Запитати в залі: скільки будинків у вашому окрузі?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Обережно з обіцянками: 20 000 — це ціль моделі, а не гарантія. Сила аргументу в тому, що ціль розкладена на конкретні будинки, ринки й прохідні, за які відповідають конкретні люди.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Головний комерційний факт: платформа — 400 тис. грн з 4,39 млн, менше 10% бюджету. Решта — це кампанійні витрати, які партія несе й так, тільки без системи вони не лишають активу.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пропускати цей слайд. Партія, яка чує ризик від постачальника першою, довіряє більше. Готувати відповідь на питання «а де фізично лежать дані?».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Ціну називати як орієнтир із реального розрахунку, а не як прайс. Фінальна цифра залежить від розміру бази й кількості округів.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Закрити одним питанням: «Який округ беремо в пілот?» — не «чи цікаво вам».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960120"/>
            <a:ext cx="457200" cy="45720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1481328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1005840"/>
            <a:ext cx="173736" cy="17373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148840"/>
            <a:ext cx="201168" cy="201168"/>
          </a:xfrm>
          <a:prstGeom prst="ellipse">
            <a:avLst/>
          </a:prstGeom>
          <a:solidFill>
            <a:srgbClr val="9FB0C4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2377440"/>
            <a:ext cx="347472" cy="347472"/>
          </a:xfrm>
          <a:prstGeom prst="ellipse">
            <a:avLst/>
          </a:prstGeom>
          <a:solidFill>
            <a:srgbClr val="24405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ІНФРАСТРУКТУРА ПОЛІТИЧНОЇ ПАРТІЇ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87168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Партія, яка не зникає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між виборами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3434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 до впровадження платформа: звернення громадян, документообіг із контролем строків, CRM виборця, польова мережа та AI-відбір кадрів — в одній системі.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5541264"/>
            <a:ext cx="118872" cy="11887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5449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в продакшені  ·  btkvshn.vercel.app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870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Пропозиція для політичних партій  ·  White-label впровадження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партії втрачають виборця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Кампанія закінчується — і вся зібрана база перестає працювати. Чотири типові розриви: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95728"/>
            <a:ext cx="420624" cy="420624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358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живе в таблиці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57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в Excel і зошитах агітаторів. Профілю людини немає — кампанія починається з нуля.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93008" y="210312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2395728"/>
            <a:ext cx="420624" cy="420624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0358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зникає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657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Заяву прийняли — і слід загубився. Ніхто не знає стадії й чи відповіли в строк.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19088" y="210312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93408" y="2395728"/>
            <a:ext cx="420624" cy="420624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30358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не кероване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693408" y="3657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Агітатор працює «як вийде»: без задач, дедлайнів і видимого результату по адресах.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45168" y="210312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19488" y="2395728"/>
            <a:ext cx="420624" cy="420624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1948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30358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Кадри відбирають на око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3657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Помічників призначають за знайомством, без вимірюваної оцінки компетенцій.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102352"/>
            <a:ext cx="11027664" cy="969264"/>
          </a:xfrm>
          <a:prstGeom prst="roundRect">
            <a:avLst>
              <a:gd name="adj" fmla="val 6604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50976" y="5394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Наслідок: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5394960"/>
            <a:ext cx="8814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партія розмовляє з виборцем 6 тижнів на 4 роки. Довіра будується на постійності, а постійність — це система, а не ентузіазм.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СИСТЕМИ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людина — один профіль — одна історія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канали — дзвінки, розсилки, месенджери, QR, офіс, польові агенти — пишуть у ту саму базу.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2121408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688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626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Будь-який канал створює профіль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89504" y="2212848"/>
            <a:ext cx="2121408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2450592"/>
            <a:ext cx="365760" cy="3657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45536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4688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145536" y="29626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Дзвінок, візит, зустріч, повідомлення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0056" y="2743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12080" y="2212848"/>
            <a:ext cx="2121408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8112" y="2450592"/>
            <a:ext cx="365760" cy="3657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68112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25312" y="24688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9626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зі строком і відповідальним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2743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534656" y="2212848"/>
            <a:ext cx="2121408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2450592"/>
            <a:ext cx="365760" cy="3657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24688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790688" y="29626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+ фіксація задоволеності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65208" y="2743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857232" y="2212848"/>
            <a:ext cx="2121408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13264" y="2450592"/>
            <a:ext cx="365760" cy="3657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13264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570464" y="24688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0113264" y="29626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Прихильник → помічник → агент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Уніфікована шкала стану ліда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4553712"/>
            <a:ext cx="552298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4553712"/>
            <a:ext cx="552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19810" y="4553712"/>
            <a:ext cx="1035101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19810" y="4553712"/>
            <a:ext cx="1035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55494" y="4553712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55494" y="455371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571646" y="4553712"/>
            <a:ext cx="793699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71646" y="4553712"/>
            <a:ext cx="793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65930" y="4553712"/>
            <a:ext cx="954634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65930" y="4553712"/>
            <a:ext cx="954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21147" y="4553712"/>
            <a:ext cx="1035101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521147" y="4553712"/>
            <a:ext cx="1035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56832" y="4553712"/>
            <a:ext cx="954634" cy="384048"/>
          </a:xfrm>
          <a:prstGeom prst="roundRect">
            <a:avLst>
              <a:gd name="adj" fmla="val 14286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56832" y="4553712"/>
            <a:ext cx="954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12050" y="4553712"/>
            <a:ext cx="1035101" cy="384048"/>
          </a:xfrm>
          <a:prstGeom prst="roundRect">
            <a:avLst>
              <a:gd name="adj" fmla="val 14286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12050" y="4553712"/>
            <a:ext cx="1035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847734" y="4553712"/>
            <a:ext cx="874166" cy="384048"/>
          </a:xfrm>
          <a:prstGeom prst="roundRect">
            <a:avLst>
              <a:gd name="adj" fmla="val 14286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47734" y="4553712"/>
            <a:ext cx="8741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22485" y="4553712"/>
            <a:ext cx="954634" cy="384048"/>
          </a:xfrm>
          <a:prstGeom prst="roundRect">
            <a:avLst>
              <a:gd name="adj" fmla="val 14286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822485" y="4553712"/>
            <a:ext cx="954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5285232"/>
            <a:ext cx="11027664" cy="859536"/>
          </a:xfrm>
          <a:prstGeom prst="roundRect">
            <a:avLst>
              <a:gd name="adj" fmla="val 7447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0976" y="5285232"/>
            <a:ext cx="10259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зміна стану автоматично створює наступну задачу з дедлайном (SLA) і відповідальним. Воронка перестає бути презентацією і стає робочим процесом.</a:t>
            </a:r>
            <a:endParaRPr lang="en-US" sz="1350" dirty="0"/>
          </a:p>
        </p:txBody>
      </p:sp>
      <p:sp>
        <p:nvSpPr>
          <p:cNvPr id="59" name="Text 56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 · ЯДРО ПРОДУКТУ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Звернення громадян: 24 готові сценарії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обирає життєву ситуацію — система сама знає, куди писати, які поля потрібні й які документи додати.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73152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391156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28600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Забезпечення житлом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6968" y="2706624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60146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Забезпечення ліками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3022092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291693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Лікування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" y="3337560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232404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Оздоровлення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" y="3653028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3547872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Матеріальна допомога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968" y="3968496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" y="386334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 пенсії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968" y="4283964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" y="417880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Перерахунок пенсії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6968" y="4599432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2416" y="449427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 субсидії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12008" y="2391156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67456" y="228600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Отримання статусу ВПО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12008" y="2706624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67456" y="260146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Пільги ВПО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12008" y="3022092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67456" y="291693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Звільнення з полону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12008" y="3337560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67456" y="3232404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зниклих безвісти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12008" y="3653028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67456" y="3547872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Скарга на дії ТЦК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12008" y="3968496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67456" y="386334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інвалідності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12008" y="4283964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67456" y="417880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Засоби реабілітації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12008" y="4599432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67456" y="449427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у закладах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37048" y="2391156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92496" y="228600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Комунальні послуги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37048" y="2706624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92496" y="260146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проживання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37048" y="3022092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92496" y="291693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 і дороги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37048" y="3337560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92496" y="3232404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Озеленення та відпочинок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37048" y="3653028"/>
            <a:ext cx="77724" cy="7772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92496" y="3547872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Профспілки і праця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37048" y="3968496"/>
            <a:ext cx="77724" cy="777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92496" y="3863340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ФОП — поточна проблема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37048" y="4283964"/>
            <a:ext cx="77724" cy="777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92496" y="4178808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Дії органів МВС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37048" y="4599432"/>
            <a:ext cx="77724" cy="777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92496" y="4494276"/>
            <a:ext cx="197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Затягування розслідування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86968" y="47914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окрема категорія: пропозиції та законодавчі ініціативи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38160" y="2103120"/>
            <a:ext cx="345643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39328" y="2267712"/>
            <a:ext cx="365760" cy="365760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39328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796528" y="21945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Цільові організації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8796528" y="2441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містить перелік органів, куди подається саме це звернення.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38160" y="2852928"/>
            <a:ext cx="345643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39328" y="3017520"/>
            <a:ext cx="365760" cy="365760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33932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8796528" y="29443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Обов'язкові поля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8796528" y="319125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не дасть надіслати неповну заяву — менше відмов.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138160" y="3602736"/>
            <a:ext cx="345643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39328" y="3767328"/>
            <a:ext cx="365760" cy="365760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3932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8796528" y="36941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Необхідні документи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8796528" y="394106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додатків показується одразу, до подання.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138160" y="4352544"/>
            <a:ext cx="345643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39328" y="4517136"/>
            <a:ext cx="365760" cy="365760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39328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8796528" y="444398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Інструкції на e-mail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8796528" y="46908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отримує покрокову пам'ятку й може подати заяву самостійно.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66928" y="5230368"/>
            <a:ext cx="11027664" cy="914400"/>
          </a:xfrm>
          <a:prstGeom prst="roundRect">
            <a:avLst>
              <a:gd name="adj" fmla="val 7000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7" name="Text 75"/>
          <p:cNvSpPr txBox="1"/>
          <p:nvPr/>
        </p:nvSpPr>
        <p:spPr>
          <a:xfrm>
            <a:off x="950976" y="5376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Політика вбудована у форму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950976" y="5669280"/>
            <a:ext cx="10259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«ФОП» пропонує підтримати конкретний законопроєкт — звернення громадянина стає вимірюваним політичним голосом.</a:t>
            </a:r>
            <a:endParaRPr lang="en-US" sz="1250" dirty="0"/>
          </a:p>
        </p:txBody>
      </p:sp>
      <p:sp>
        <p:nvSpPr>
          <p:cNvPr id="80" name="Text 77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 · КОНТРОЛЬ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Документообіг зі світлофором строків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звернення проходить сім кроків з інтеграцією в АСКОД. Три відмітки фіксують рух документа.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0280"/>
            <a:ext cx="310896" cy="31089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13969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Заявник надсилає звернення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843784"/>
            <a:ext cx="310896" cy="31089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4320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Депутат МР або ВР отримує його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47288"/>
            <a:ext cx="310896" cy="31089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346704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Помічник завантажує документи — перша відмітка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66928" y="3950208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050792"/>
            <a:ext cx="310896" cy="31089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3950208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йдуть в АСКОД, стартують строки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217920" y="2139696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240280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213969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в АСКОД: часткова або повна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843784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21424" y="274320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Помічник вивантажує відповідь — друга відмітка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217920" y="3346704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447288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21424" y="3346704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у платформі — третя відмітка, строк закрито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217920" y="4626864"/>
            <a:ext cx="5376672" cy="1481328"/>
          </a:xfrm>
          <a:prstGeom prst="roundRect">
            <a:avLst>
              <a:gd name="adj" fmla="val 4321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Трекер-світлофор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55664" y="5184648"/>
            <a:ext cx="155448" cy="15544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11696" y="5138928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строк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55664" y="5495544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11696" y="5449824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наближається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55664" y="5806440"/>
            <a:ext cx="155448" cy="1554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11696" y="5760720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порушено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6928" y="4626864"/>
            <a:ext cx="5376672" cy="1481328"/>
          </a:xfrm>
          <a:prstGeom prst="roundRect">
            <a:avLst>
              <a:gd name="adj" fmla="val 4321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" y="48097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 бачить не звіт про роботу,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список прострочень — поіменно.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877824" y="55961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Ескалація: прострочення → нагадування → координатор району → керівник округу.</a:t>
            </a:r>
            <a:endParaRPr lang="en-US" sz="1080" dirty="0"/>
          </a:p>
        </p:txBody>
      </p:sp>
      <p:sp>
        <p:nvSpPr>
          <p:cNvPr id="46" name="Text 43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 · БАЗА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виборця: сегментація за 30–60 секунд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скрипт або міні-анкета дають три виміри, за якими система сама маршрутизує контакт.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40864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40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017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Ядро. Веде до ролі: волонтер, помічник, агент.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14800" y="2103120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340864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340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Нейтральний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017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ресурс зростання. Конвертується через вирішену проблему.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662672" y="2103120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2340864"/>
            <a:ext cx="566928" cy="566928"/>
          </a:xfrm>
          <a:prstGeom prst="ellipse">
            <a:avLst/>
          </a:prstGeom>
          <a:solidFill>
            <a:srgbClr val="7B8AA0"/>
          </a:solidFill>
          <a:ln w="12700">
            <a:solidFill>
              <a:srgbClr val="7B8A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36992" y="2340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31936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36992" y="3017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витрачаємо ресурс. Виключається з дорогих каналів.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3986784"/>
            <a:ext cx="5376672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77824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і теги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5354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ФОП і малий бізнес · підприємства · будинки та ОСББ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Пенсіонери · ВПО · військові, родини, ветерани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Багатодітні родини · соціально незахищені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Інтенсивність: гарячий · теплий · холодний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17920" y="3986784"/>
            <a:ext cx="5376672" cy="2139696"/>
          </a:xfrm>
          <a:prstGeom prst="roundRect">
            <a:avLst>
              <a:gd name="adj" fmla="val 2991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28816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маршрутизація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28816" y="453542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реєстрації система сама призначає відповідального за географією (район, вулиця, будинок), сегментом і точкою концентрації — та ставить задачу зі строком.</a:t>
            </a:r>
            <a:endParaRPr lang="en-US" sz="118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53400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год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53400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контакту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8906256" y="53400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год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83496" y="53400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відповідального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6528816" y="5742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год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06056" y="57424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візит або зустріч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8906256" y="5742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год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83496" y="57424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повторний контакт</a:t>
            </a:r>
            <a:endParaRPr lang="en-US" sz="1030" dirty="0"/>
          </a:p>
        </p:txBody>
      </p:sp>
      <p:sp>
        <p:nvSpPr>
          <p:cNvPr id="36" name="Text 33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4 · МАСШТАБ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AI-контур: обдзвін, консультант, екзамен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Там, де партія не має людського ресурсу, працює автоматизація — з живим голосом і збереженням історії.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395728"/>
            <a:ext cx="457200" cy="45720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017520"/>
            <a:ext cx="2919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AI-обдзвін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419856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Сегментовані бази, скрипт на 30–60 секунд, автоматична фіксація статусу та потреби під час розмови.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28160" y="2139696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0768" y="2395728"/>
            <a:ext cx="457200" cy="45720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07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0768" y="3017520"/>
            <a:ext cx="2919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Голосовий консультант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20768" y="3419856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Віджет у платформі: людина натискає «Подзвонити» й отримує відповідь голосом. Історія лишається в профілі.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089392" y="2139696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2395728"/>
            <a:ext cx="457200" cy="45720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20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017520"/>
            <a:ext cx="2919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RPG-інтерв'ю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3419856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Master веде інтерактивний політичний сценарій: кандидат ухвалює рішення хід за ходом, з розпізнаванням мови.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4645152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партії екзаменувати людей грою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5138928"/>
            <a:ext cx="10259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показує, що людина про себе думає. Сценарій показує, як вона діє під тиском: розставляє пріоритети, тримає позицію, домовляється. Це дає партії відбір за поведінкою, а не за резюме.</a:t>
            </a:r>
            <a:endParaRPr lang="en-US" sz="1280" dirty="0"/>
          </a:p>
        </p:txBody>
      </p:sp>
      <p:sp>
        <p:nvSpPr>
          <p:cNvPr id="25" name="Text 22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5 · ЛЮДИ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Кадровий резерв: від прихильника до депутата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анкета кандидата — понад 30 полів: досвід управління, цінності, реакція на критику, рішення в кризі.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310128"/>
            <a:ext cx="146304" cy="146304"/>
          </a:xfrm>
          <a:prstGeom prst="ellipse">
            <a:avLst/>
          </a:prstGeom>
          <a:solidFill>
            <a:srgbClr val="7B8AA0"/>
          </a:solidFill>
          <a:ln w="12700">
            <a:solidFill>
              <a:srgbClr val="7B8A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2971800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Прихильник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74136" y="2770632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3209544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67912" y="2770632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Помічник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09981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1344" y="2569464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3108960"/>
            <a:ext cx="146304" cy="146304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569464"/>
            <a:ext cx="19293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і координатор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29992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88552" y="2368296"/>
            <a:ext cx="2606040" cy="1426464"/>
          </a:xfrm>
          <a:prstGeom prst="roundRect">
            <a:avLst>
              <a:gd name="adj" fmla="val 4487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44584" y="3008376"/>
            <a:ext cx="146304" cy="146304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82328" y="2368296"/>
            <a:ext cx="19293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округу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279392"/>
            <a:ext cx="537667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77824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фіксує анкета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80974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Досвід: управлінський, держслужба, ГО, кампанії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Галузь інтересу й готовність балотуватися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організує команду з 10 осіб; реакція на критику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модерації та рівень із датою присвоєння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279392"/>
            <a:ext cx="5376672" cy="1828800"/>
          </a:xfrm>
          <a:prstGeom prst="roundRect">
            <a:avLst>
              <a:gd name="adj" fmla="val 3500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28816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Ринок, який партія може зайняти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28816" y="4846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40 000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46320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депутатських мандатів усіх рівнів в Україні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28816" y="54498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300 000+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5449824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працівників комунальних і муніципальних структур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· ТРАФІК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Звідки береться контакт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ресурсу за каналами першого дотику. Кожен канал веде в ту саму базу.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84832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99248" y="2084832"/>
            <a:ext cx="3895344" cy="1883664"/>
          </a:xfrm>
          <a:prstGeom prst="roundRect">
            <a:avLst>
              <a:gd name="adj" fmla="val 3398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10144" y="226771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Дзвінок — половина кампанії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10144" y="2633472"/>
            <a:ext cx="32735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40% телефонного ресурсу: пенсіонери — 30%, соціально незахищені — 25%, ФОП і малий бізнес — 20%, військові та ветерани — 15%, гендерні кампанії — 10%.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7699248" y="4169664"/>
            <a:ext cx="3895344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10144" y="435254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без втрати контакту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10144" y="4700016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СМС або месенджер після розмови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Персональне посилання та QR агента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Нагадування через 6–12 годин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Мовчання — контакт іде агенту в поле</a:t>
            </a:r>
            <a:endParaRPr lang="en-US" sz="1130" dirty="0"/>
          </a:p>
        </p:txBody>
      </p:sp>
      <p:sp>
        <p:nvSpPr>
          <p:cNvPr id="14" name="Text 10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· ОФЛАЙН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Поле: покриття за точками концентрації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Онлайн-контакт стає довірою тільки в живій зустрічі. Місто ділиться на точки, за кожною — відповідальний.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3505200" cy="1975104"/>
          </a:xfrm>
          <a:prstGeom prst="roundRect">
            <a:avLst>
              <a:gd name="adj" fmla="val 3241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22576"/>
            <a:ext cx="2919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62656"/>
            <a:ext cx="2919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ринків і торгових майданчиків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493008"/>
            <a:ext cx="2919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групи агентів біля локацій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8160" y="2139696"/>
            <a:ext cx="3505200" cy="1975104"/>
          </a:xfrm>
          <a:prstGeom prst="roundRect">
            <a:avLst>
              <a:gd name="adj" fmla="val 3241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0768" y="2322576"/>
            <a:ext cx="2919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1 140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20768" y="2962656"/>
            <a:ext cx="2919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промислових підприємств, з них 340 великих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20768" y="3493008"/>
            <a:ext cx="2919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представники по змінах і підрозділах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89392" y="2139696"/>
            <a:ext cx="3505200" cy="1975104"/>
          </a:xfrm>
          <a:prstGeom prst="roundRect">
            <a:avLst>
              <a:gd name="adj" fmla="val 3241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2000" y="2322576"/>
            <a:ext cx="2919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11 920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962656"/>
            <a:ext cx="2919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багатоквартирних будинків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493008"/>
            <a:ext cx="2919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будинкові агенти: 1 або 2–5 будинків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18795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Києва — як приклад розрахунку. Модель переноситься на будь-яке місто.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572000"/>
            <a:ext cx="5376672" cy="1572768"/>
          </a:xfrm>
          <a:prstGeom prst="roundRect">
            <a:avLst>
              <a:gd name="adj" fmla="val 4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«зірочка-5»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5065776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помічник + 4 прихильники = 5 пов'язаних людей, часто одна родина. Мережа росте ядрами, а не списками.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572000"/>
            <a:ext cx="5376672" cy="1572768"/>
          </a:xfrm>
          <a:prstGeom prst="roundRect">
            <a:avLst>
              <a:gd name="adj" fmla="val 4070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47365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135–270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736592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помічників на округ депутата ВР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28816" y="532180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90 = 30 помічників депутата ВР + 12 місцевих депутатів по 5. Коефіцієнт добору 1,5–3,0 дає 675–1 350 людей прямої мережі.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Округ 300 000: як це рахується в голоси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керованої мобілізації на окрузі — три контури покриття, один центр управління.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376672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322576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Організаційна модель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" y="2834640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77977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Народний депутат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305409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округу: стратегія, публічні зустрічі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3621024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56616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 округу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84048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Координація, приймальня, кейс-менеджмент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4407408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35254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депутатів МР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62686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Опорні точки в мікрозонах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" y="5193792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26464" y="513892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80 помічників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5413248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Польовий контур: двори, ринки, прохідні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103120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47104" y="23225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3225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23225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547104" y="292608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населення округу → цільовий результат мобілізації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5376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47104" y="3968496"/>
            <a:ext cx="137160" cy="1371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84848" y="37581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 та мікрорайони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4023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будинків · 12 помічників · вечори та вихідні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217920" y="4517136"/>
            <a:ext cx="5376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47104" y="4828032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84848" y="4617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ФОП-контур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4882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ринків · 24 помічники по двоє · будні в пікові години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217920" y="5376672"/>
            <a:ext cx="5376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47104" y="5687568"/>
            <a:ext cx="137160" cy="1371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84848" y="54772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Підприємства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784848" y="57424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підприємств · 25 відповідальних · зміни, прохідні, колективні звернення</a:t>
            </a:r>
            <a:endParaRPr lang="en-US" sz="1030" dirty="0"/>
          </a:p>
        </p:txBody>
      </p:sp>
      <p:sp>
        <p:nvSpPr>
          <p:cNvPr id="42" name="Text 39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· ПРИКЛАД КИЄВА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Економіка першого місяця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 фаза на місто з електоратом 2 млн: повний розрахунок за фактичними ставками.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139696"/>
          <a:ext cx="6766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2029968" y="5029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тис. грн за перший місяць активної фази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5413248"/>
            <a:ext cx="6766560" cy="676656"/>
          </a:xfrm>
          <a:prstGeom prst="roundRect">
            <a:avLst>
              <a:gd name="adj" fmla="val 9459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7824" y="541324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— менше 10% бюджету кампанії.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224528" y="54132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Решту партія витрачає й так — тільки без системи це не лишає активу.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07808" y="2139696"/>
            <a:ext cx="3986784" cy="1298448"/>
          </a:xfrm>
          <a:prstGeom prst="roundRect">
            <a:avLst>
              <a:gd name="adj" fmla="val 4930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918704" y="230428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4,39 млн грн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918704" y="28712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 за перший місяць по Києву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07808" y="3621024"/>
            <a:ext cx="398678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36210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2 000 000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454896" y="362102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абонентів у першому дотику SMS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607808" y="4261104"/>
            <a:ext cx="398678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42611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454896" y="426110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потенційних вхідних дзвінків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607808" y="4901184"/>
            <a:ext cx="398678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4901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454896" y="490118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них — наші прихильники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607808" y="5541264"/>
            <a:ext cx="398678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0" y="55412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440 000 грн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454896" y="55412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з другого місяця, разова частина не повторюється</a:t>
            </a:r>
            <a:endParaRPr lang="en-US" sz="1020" dirty="0"/>
          </a:p>
        </p:txBody>
      </p:sp>
      <p:sp>
        <p:nvSpPr>
          <p:cNvPr id="27" name="Text 23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Архітектура, доступ і персональні дані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Хмарна платформа без власного серверного парку. Розгортання під доменом партії.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3505200" cy="1883664"/>
          </a:xfrm>
          <a:prstGeom prst="roundRect">
            <a:avLst>
              <a:gd name="adj" fmla="val 3398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22576"/>
            <a:ext cx="291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88336"/>
            <a:ext cx="2919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на Vercel, хмарне сховище файлів та аватарів. Горизонтальне масштабування без адміністрування заліза.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328160" y="2139696"/>
            <a:ext cx="3505200" cy="1883664"/>
          </a:xfrm>
          <a:prstGeom prst="roundRect">
            <a:avLst>
              <a:gd name="adj" fmla="val 3398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0768" y="2322576"/>
            <a:ext cx="291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20768" y="2688336"/>
            <a:ext cx="2919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JWT-сесія з коротким токеном і оновленням, HttpOnly-cookie, ролі користувача й адміністратора, прив'язка профілю до регіону.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089392" y="2139696"/>
            <a:ext cx="3505200" cy="1883664"/>
          </a:xfrm>
          <a:prstGeom prst="roundRect">
            <a:avLst>
              <a:gd name="adj" fmla="val 3398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2000" y="2322576"/>
            <a:ext cx="291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Мобільність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382000" y="2688336"/>
            <a:ext cx="2919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Адаптивний веб: планшет або смартфон помічника в полі — окремий застосунок не потрібен.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11027664" cy="1883664"/>
          </a:xfrm>
          <a:prstGeom prst="roundRect">
            <a:avLst>
              <a:gd name="adj" fmla="val 3398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4507992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4407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що варто домовитися до запуску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809744"/>
            <a:ext cx="10259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обробляє персональні дані й політичні вподобання — це чутлива категорія за Законом України «Про захист персональних даних». У платформі вже є явна згода на обробку в анкеті та вибір каналу комунікації. Перед запуском партія узгоджує: хто є володільцем бази, строки зберігання, регламент доступу помічників до чужих профілів і порядок видалення на вимогу людини. Це не юридична формальність — це те, що захищає партію від скандалу в розпал кампанії.</a:t>
            </a:r>
            <a:endParaRPr lang="en-US" sz="1180" dirty="0"/>
          </a:p>
        </p:txBody>
      </p:sp>
      <p:sp>
        <p:nvSpPr>
          <p:cNvPr id="20" name="Text 17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ПОЧАТИ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Впровадження за чотири кроки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Партія отримує готову систему під власним брендом. Перший округ запускається, поки конкуренти пишуть технічне завдання.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2322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1–2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15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17520"/>
            <a:ext cx="2057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і брендинг партії, ролі та регіони, імпорт наявної бази контактів.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374136" y="210312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48456" y="2322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3–4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615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Пілотний округ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017520"/>
            <a:ext cx="2057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округ: шаблони звернень під місцеву специфіку, навчання штабу й помічників.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5664" y="2322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МІСЯЦЬ 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615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017520"/>
            <a:ext cx="2057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концентрації, персональні QR, SLA й трекер строків у робочому режимі.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988552" y="210312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62872" y="2322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МІСЯЦЬ 3+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2615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62872" y="3017520"/>
            <a:ext cx="2057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2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Тиражування на інші округи, кадровий резерв, AI-контур, звітність по KPI.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66928" y="4681728"/>
            <a:ext cx="5376672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77824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входить у впровадження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1937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під брендом і доменом партії</a:t>
            </a:r>
            <a:endParaRPr lang="en-US" sz="113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 шаблонів звернень під регіон</a:t>
            </a:r>
            <a:endParaRPr lang="en-US" sz="113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штабу, помічників і кол-центру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17920" y="4681728"/>
            <a:ext cx="5376672" cy="1426464"/>
          </a:xfrm>
          <a:prstGeom prst="roundRect">
            <a:avLst>
              <a:gd name="adj" fmla="val 4487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28816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оплати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51937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Абонентська плата за активну базу контактів у регіоні плюс разове впровадження. Орієнтир із київського розрахунку — 400 тис. грн на місяць на 400 тис. абонентів у 10 районах.</a:t>
            </a:r>
            <a:endParaRPr lang="en-US" sz="1130" dirty="0"/>
          </a:p>
        </p:txBody>
      </p:sp>
      <p:sp>
        <p:nvSpPr>
          <p:cNvPr id="29" name="Text 26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1188720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783080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8360" y="196596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28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311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Демонстрація наживо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вашому окрузі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91363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Година в залі зі штабом: показуємо подання звернення, трекер строків і картку виборця — на прикладі вашого міста, з вашими типами проблем.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4956048"/>
            <a:ext cx="3505200" cy="1005840"/>
          </a:xfrm>
          <a:prstGeom prst="roundRect">
            <a:avLst>
              <a:gd name="adj" fmla="val 636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5193792"/>
            <a:ext cx="137160" cy="137160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5084064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413248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системи штабу партії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328160" y="4956048"/>
            <a:ext cx="3505200" cy="1005840"/>
          </a:xfrm>
          <a:prstGeom prst="roundRect">
            <a:avLst>
              <a:gd name="adj" fmla="val 636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2480" y="5193792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0224" y="5084064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02480" y="5413248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округ, вісім тижнів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089392" y="4956048"/>
            <a:ext cx="3505200" cy="1005840"/>
          </a:xfrm>
          <a:prstGeom prst="roundRect">
            <a:avLst>
              <a:gd name="adj" fmla="val 636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3712" y="5193792"/>
            <a:ext cx="137160" cy="1371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01456" y="5084064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63712" y="5413248"/>
            <a:ext cx="295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бюджету під ваш регіон</a:t>
            </a:r>
            <a:endParaRPr lang="en-US" sz="1080" dirty="0"/>
          </a:p>
        </p:txBody>
      </p:sp>
      <p:sp>
        <p:nvSpPr>
          <p:cNvPr id="22" name="Text 19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Партія як цифрова платформа</dc:title>
  <dc:subject>PptxGenJS Presentation</dc:subject>
  <dc:creator>Платформа «Батьківщина»</dc:creator>
  <cp:lastModifiedBy>Платформа «Батьківщина»</cp:lastModifiedBy>
  <cp:revision>1</cp:revision>
  <dcterms:created xsi:type="dcterms:W3CDTF">2026-09-15T13:39:48Z</dcterms:created>
  <dcterms:modified xsi:type="dcterms:W3CDTF">2026-09-15T13:39:48Z</dcterms:modified>
</cp:coreProperties>
</file>