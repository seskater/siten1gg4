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Перший слайд закриває два питання одразу: що це і яку саме дірку закриває. Наголосити, що система вже працює — її можна показати наживо в цій кімнаті. Чотири картки — це чотири типові розриви, які має майже кожна партія.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Якщо є час тільки на одну демонстрацію — показувати перший модуль: вибір шаблону звернення, як змінюються цільові організації та список документів. Далі — світлофор строків. Це два екрани, які продають систему найкраще.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Головне тут — 20 000 голосів і 800 000 прихильників є цільовими показниками моделі, а не досягнутим результатом. Проговорити це прямо. Сила аргументу не в цифрі, а в тому, що вона розкладена на конкретні адреси з конкретними відповідальними.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Ціну називати як орієнтир із реального розрахунку, а не як прайс — фінальна цифра залежить від розміру бази й кількості округів. Слайд про дані не пропускати: партія, яка чує ризик від постачальника першою, довіряє більше. Закривати питанням «який округ беремо в пілот?».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786384"/>
            <a:ext cx="402336" cy="402336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5640" y="1225296"/>
            <a:ext cx="237744" cy="23774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0" y="841248"/>
            <a:ext cx="146304" cy="14630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754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 ІНФРАСТРУКТУРА ПОЛІТИЧНОЇ ПАРТІЇ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841248"/>
            <a:ext cx="11027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Партія, яка не зникає між виборами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55648"/>
            <a:ext cx="10424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 до впровадження платформа: звернення громадян із контролем строків, CRM виборця, кероване поле, AI-контур і кадровий резерв — в одній системі, під брендом вашої партії.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33472"/>
            <a:ext cx="118872" cy="11887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2542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Працює в продакшені  ·  btkvshn.vercel.app  ·  White-label впровадження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127248"/>
            <a:ext cx="2697480" cy="2084832"/>
          </a:xfrm>
          <a:prstGeom prst="roundRect">
            <a:avLst>
              <a:gd name="adj" fmla="val 307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64992"/>
            <a:ext cx="384048" cy="384048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58768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профіль виборця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25696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Замість списків в Excel: усі канали пишуть в одну базу з історією.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493008" y="3127248"/>
            <a:ext cx="2697480" cy="2084832"/>
          </a:xfrm>
          <a:prstGeom prst="roundRect">
            <a:avLst>
              <a:gd name="adj" fmla="val 307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3364992"/>
            <a:ext cx="384048" cy="384048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490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858768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Звернення зі строком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4425696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Замість загубленої заяви: кейс, відповідальний, дедлайн, світлофор.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419088" y="3127248"/>
            <a:ext cx="2697480" cy="2084832"/>
          </a:xfrm>
          <a:prstGeom prst="roundRect">
            <a:avLst>
              <a:gd name="adj" fmla="val 307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3364992"/>
            <a:ext cx="384048" cy="384048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858768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Кероване поле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425696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Замість «як вийде»: задача агенту за адресою й сегментом, з SLA.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345168" y="3127248"/>
            <a:ext cx="2697480" cy="2084832"/>
          </a:xfrm>
          <a:prstGeom prst="roundRect">
            <a:avLst>
              <a:gd name="adj" fmla="val 3070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3364992"/>
            <a:ext cx="384048" cy="384048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3858768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Відбір за поведінкою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4425696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Замість знайомств: анкета, рівні, навчання та AI-інтерв'ю.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566928" y="5431536"/>
            <a:ext cx="11027664" cy="804672"/>
          </a:xfrm>
          <a:prstGeom prst="roundRect">
            <a:avLst>
              <a:gd name="adj" fmla="val 7955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2688" y="5431536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176272" y="5431536"/>
            <a:ext cx="90159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людина — один профіль — одна історія. Кожна зміна стану ліда (NEW → … → ADVOCATE) автоматично створює наступну задачу з дедлайном і відповідальним.</a:t>
            </a:r>
            <a:endParaRPr lang="en-US" sz="1280" dirty="0"/>
          </a:p>
        </p:txBody>
      </p:sp>
      <p:sp>
        <p:nvSpPr>
          <p:cNvPr id="35" name="Text 32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Шість модулів в одній системі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6304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набір сервісів, а один робочий процес: контакт → сегмент → кейс → результат → роль.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349300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249424"/>
            <a:ext cx="384048" cy="384048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231136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Звернення громадян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834640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готові шаблони — від субсидій і ліків до полону, ТЦК і проблем ФОП. Для кожного: цільові організації, обов'язкові поля, перелік документів та інструкція на e-mail.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4256" y="2011680"/>
            <a:ext cx="349300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2249424"/>
            <a:ext cx="384048" cy="384048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08576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231136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Документообіг і строки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077456" y="2386584"/>
            <a:ext cx="118872" cy="11887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78624" y="2386584"/>
            <a:ext cx="118872" cy="1188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79792" y="2386584"/>
            <a:ext cx="118872" cy="118872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08576" y="2834640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з АСКОД: три відмітки руху документа й трекер-світлофор. Керівник бачить не звіт про роботу, а список прострочень — поіменно.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101584" y="2011680"/>
            <a:ext cx="349300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75904" y="2249424"/>
            <a:ext cx="384048" cy="384048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75904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887968" y="2231136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виборця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2834640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Профіль, події, кейси. Сегментація за 30–60 секунд: теги N+/N0/N−, сегмент і температура. Відповідального система призначає сама — за гео й точкою концентрації.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349300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4297680"/>
            <a:ext cx="384048" cy="384048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4279392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AI-контур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4882896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AI-обдзвін сегментованих баз, голосовий консультант у застосунку та RPG-інтерв'ю з Game Master: кандидат ухвалює рішення в сценарії, а не заповнює анкету.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4334256" y="4059936"/>
            <a:ext cx="349300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08576" y="4297680"/>
            <a:ext cx="384048" cy="384048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0857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4279392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Кадровий резерв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608576" y="4882896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 на 30+ полів: досвід, цінності, реакція на критику, рішення в кризі. Рівні: прихильник → помічник → агент → лідер округу, зі статусом модерації.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101584" y="4059936"/>
            <a:ext cx="3493008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75904" y="4297680"/>
            <a:ext cx="384048" cy="384048"/>
          </a:xfrm>
          <a:prstGeom prst="ellipse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75904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887968" y="4279392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Події, карта, кабінет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375904" y="4882896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 заходів із фільтрами за статусом, карта округу та особистий кабінет, де людина бачить статус свого звернення й отримує сповіщення.</a:t>
            </a:r>
            <a:endParaRPr lang="en-US" sz="1080" dirty="0"/>
          </a:p>
        </p:txBody>
      </p:sp>
      <p:sp>
        <p:nvSpPr>
          <p:cNvPr id="40" name="Text 37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ЦЕ ПРАЦЮЄ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 контакту до голосу на окрузі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6304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Трафік заводиться в базу, база розкладається на конкретні адреси з конкретними відповідальними.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493008" cy="3310128"/>
          </a:xfrm>
          <a:prstGeom prst="roundRect">
            <a:avLst>
              <a:gd name="adj" fmla="val 1934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07568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ТРАФІК · звідки контакт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4144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Дзвінки та AI-обдзвін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3218688" y="24414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74320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Агенти депутатів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3218688" y="27432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04495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біля будинків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3218688" y="3044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34670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на заходах</a:t>
            </a:r>
            <a:endParaRPr lang="en-US" sz="1080" dirty="0"/>
          </a:p>
        </p:txBody>
      </p:sp>
      <p:sp>
        <p:nvSpPr>
          <p:cNvPr id="15" name="Text 13"/>
          <p:cNvSpPr txBox="1"/>
          <p:nvPr/>
        </p:nvSpPr>
        <p:spPr>
          <a:xfrm>
            <a:off x="3218688" y="33467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64845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партії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3218688" y="36484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95020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Соцмережі та ЗМІ</a:t>
            </a:r>
            <a:endParaRPr lang="en-US" sz="1080" dirty="0"/>
          </a:p>
        </p:txBody>
      </p:sp>
      <p:sp>
        <p:nvSpPr>
          <p:cNvPr id="19" name="Text 17"/>
          <p:cNvSpPr txBox="1"/>
          <p:nvPr/>
        </p:nvSpPr>
        <p:spPr>
          <a:xfrm>
            <a:off x="3218688" y="3950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25196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Реклама, чати, e-mail, НГО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3218688" y="42519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581144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i="1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Усередині дзвінків: пенсіонери 30%, соцнезахищені 25%, ФОП 20%, військові 15%.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334256" y="1874520"/>
            <a:ext cx="3493008" cy="3310128"/>
          </a:xfrm>
          <a:prstGeom prst="roundRect">
            <a:avLst>
              <a:gd name="adj" fmla="val 1934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08576" y="207568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· точки концентрації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608576" y="242316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5797296" y="242316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ринків і торгових майданчиків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4608576" y="295351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1 140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5797296" y="295351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промислових підприємств (340 великих)</a:t>
            </a:r>
            <a:endParaRPr lang="en-US" sz="1020" dirty="0"/>
          </a:p>
        </p:txBody>
      </p:sp>
      <p:sp>
        <p:nvSpPr>
          <p:cNvPr id="29" name="Text 27"/>
          <p:cNvSpPr txBox="1"/>
          <p:nvPr/>
        </p:nvSpPr>
        <p:spPr>
          <a:xfrm>
            <a:off x="4608576" y="348386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11 920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5797296" y="348386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2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багатоквартирних будинків</a:t>
            </a:r>
            <a:endParaRPr lang="en-US" sz="1020" dirty="0"/>
          </a:p>
        </p:txBody>
      </p:sp>
      <p:sp>
        <p:nvSpPr>
          <p:cNvPr id="31" name="Text 29"/>
          <p:cNvSpPr txBox="1"/>
          <p:nvPr/>
        </p:nvSpPr>
        <p:spPr>
          <a:xfrm>
            <a:off x="4608576" y="403250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Київ — як приклад розрахунку; модель переноситься на будь-яке місто.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4553712" y="4526280"/>
            <a:ext cx="3054096" cy="548640"/>
          </a:xfrm>
          <a:prstGeom prst="roundRect">
            <a:avLst>
              <a:gd name="adj" fmla="val 11667"/>
            </a:avLst>
          </a:prstGeom>
          <a:solidFill>
            <a:srgbClr val="24405F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18304" y="452628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«Зірочка-5»: 1 помічник + 4 прихильники. 135–270 помічників на округ = 675–1 350 людей мережі.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101584" y="1874520"/>
            <a:ext cx="3493008" cy="3310128"/>
          </a:xfrm>
          <a:prstGeom prst="roundRect">
            <a:avLst>
              <a:gd name="adj" fmla="val 1934"/>
            </a:avLst>
          </a:prstGeom>
          <a:solidFill>
            <a:srgbClr val="182E4A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75904" y="207568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 · керована мобілізація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375904" y="2441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300 000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9765792" y="24414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0113264" y="2441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20 000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8375904" y="291693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населення округу → цільовий результат мобілізації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75904" y="3310128"/>
            <a:ext cx="128016" cy="128016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95360" y="3227832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595360" y="343814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будинків · 12 помічників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8375904" y="3712464"/>
            <a:ext cx="128016" cy="12801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95360" y="363016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ФОП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595360" y="3840480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ринків · 24 помічники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8375904" y="4114800"/>
            <a:ext cx="128016" cy="128016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95360" y="403250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Підприємства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595360" y="4242816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об'єктів · 25 відповідальних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8321040" y="4526280"/>
            <a:ext cx="3054096" cy="548640"/>
          </a:xfrm>
          <a:prstGeom prst="roundRect">
            <a:avLst>
              <a:gd name="adj" fmla="val 11667"/>
            </a:avLst>
          </a:prstGeom>
          <a:solidFill>
            <a:srgbClr val="24405F"/>
          </a:solidFill>
          <a:ln w="9525">
            <a:solidFill>
              <a:srgbClr val="24405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485632" y="452628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Штаб округу: народний депутат + 10–12 депутатів місцевої ради + до 80 помічників.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566928" y="5340096"/>
            <a:ext cx="11027664" cy="877824"/>
          </a:xfrm>
          <a:prstGeom prst="roundRect">
            <a:avLst>
              <a:gd name="adj" fmla="val 7292"/>
            </a:avLst>
          </a:prstGeom>
          <a:solidFill>
            <a:srgbClr val="D42A3C"/>
          </a:solidFill>
          <a:ln w="9525">
            <a:solidFill>
              <a:srgbClr val="D42A3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32688" y="5340096"/>
            <a:ext cx="731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1801368" y="5431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год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1801368" y="5742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підтвердження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3813048" y="5431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год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3813048" y="5742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агента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824728" y="5431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год</a:t>
            </a:r>
            <a:endParaRPr lang="en-US" sz="1350" dirty="0"/>
          </a:p>
        </p:txBody>
      </p:sp>
      <p:sp>
        <p:nvSpPr>
          <p:cNvPr id="58" name="Text 56"/>
          <p:cNvSpPr txBox="1"/>
          <p:nvPr/>
        </p:nvSpPr>
        <p:spPr>
          <a:xfrm>
            <a:off x="5824728" y="5742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візит або зустріч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836408" y="5431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год</a:t>
            </a:r>
            <a:endParaRPr lang="en-US" sz="1350" dirty="0"/>
          </a:p>
        </p:txBody>
      </p:sp>
      <p:sp>
        <p:nvSpPr>
          <p:cNvPr id="60" name="Text 58"/>
          <p:cNvSpPr txBox="1"/>
          <p:nvPr/>
        </p:nvSpPr>
        <p:spPr>
          <a:xfrm>
            <a:off x="7836408" y="5742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повторний контакт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9848088" y="5340096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Прострочення → нагадування → координатор району → керівник округу</a:t>
            </a:r>
            <a:endParaRPr lang="en-US" sz="940" dirty="0"/>
          </a:p>
        </p:txBody>
      </p:sp>
      <p:sp>
        <p:nvSpPr>
          <p:cNvPr id="63" name="Text 60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ЕКОНОМІКА, ДАНІ, ВПРОВАДЖЕННЯ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68096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Скільки коштує і як почати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6304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Розрахунок першого місяця активної фази на місто з електоратом 2 млн (приклад Києва).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50292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77824" y="2176272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першого місяця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Вхідні дзвінки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315968" y="252374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1 350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843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Матеріали на 440 точок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15968" y="284378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163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SMS-розсилка, 2 млн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316382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" y="3483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Соцмережі, 10 районів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348386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Платформа, 1 місяць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380390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" y="4123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по місту, разово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15968" y="412394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315968" y="440740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тис. грн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4791456"/>
            <a:ext cx="5029200" cy="1060704"/>
          </a:xfrm>
          <a:prstGeom prst="roundRect">
            <a:avLst>
              <a:gd name="adj" fmla="val 6034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77824" y="49194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4,39 млн грн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3310128" y="4919472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разом за перший місяць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534009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— 400 тис., менше 10% бюджету. Решту партія витрачає й так — тільки без системи це не лишає активу.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70448" y="2011680"/>
            <a:ext cx="5724144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181344" y="2176272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Технологія і персональні дані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181344" y="2505456"/>
            <a:ext cx="51023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Хмарна платформа (Next.js на Vercel) без власного серверного парку, під доменом партії. JWT-сесія в HttpOnly-cookie, ролі користувача й адміністратора, прив'язка профілю до регіону. Адаптивний веб — окремий застосунок помічнику не потрібен.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181344" y="3383280"/>
            <a:ext cx="128016" cy="12801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3310128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обробляє політичні вподобання — чутлива категорія персональних даних. Згода в анкеті вже є; до запуску узгоджуємо володільця бази, строки зберігання й доступ помічників.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5870448" y="4059936"/>
            <a:ext cx="5724144" cy="1773936"/>
          </a:xfrm>
          <a:prstGeom prst="roundRect">
            <a:avLst>
              <a:gd name="adj" fmla="val 3608"/>
            </a:avLst>
          </a:prstGeom>
          <a:solidFill>
            <a:srgbClr val="0E1A2B"/>
          </a:solidFill>
          <a:ln w="9525">
            <a:solidFill>
              <a:srgbClr val="0E1A2B"/>
            </a:solidFill>
            <a:prstDash val="solid"/>
          </a:ln>
          <a:effectLst>
            <a:outerShdw sx="100000" sy="100000" kx="0" ky="0" algn="bl" rotWithShape="0" blurRad="127000" dist="25400" dir="5400000">
              <a:srgbClr val="0E1A2B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181344" y="4187952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Впровадження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81344" y="4535424"/>
            <a:ext cx="310896" cy="310896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81344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181344" y="4901184"/>
            <a:ext cx="112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00" kern="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1–2</a:t>
            </a:r>
            <a:endParaRPr lang="en-US" sz="860" dirty="0"/>
          </a:p>
        </p:txBody>
      </p:sp>
      <p:sp>
        <p:nvSpPr>
          <p:cNvPr id="35" name="Text 33"/>
          <p:cNvSpPr txBox="1"/>
          <p:nvPr/>
        </p:nvSpPr>
        <p:spPr>
          <a:xfrm>
            <a:off x="6181344" y="5102352"/>
            <a:ext cx="1165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Розгортання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56932" y="4535424"/>
            <a:ext cx="310896" cy="310896"/>
          </a:xfrm>
          <a:prstGeom prst="ellipse">
            <a:avLst/>
          </a:prstGeom>
          <a:solidFill>
            <a:srgbClr val="24405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6932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456932" y="4901184"/>
            <a:ext cx="112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00" kern="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3–4</a:t>
            </a:r>
            <a:endParaRPr lang="en-US" sz="860" dirty="0"/>
          </a:p>
        </p:txBody>
      </p:sp>
      <p:sp>
        <p:nvSpPr>
          <p:cNvPr id="39" name="Text 37"/>
          <p:cNvSpPr txBox="1"/>
          <p:nvPr/>
        </p:nvSpPr>
        <p:spPr>
          <a:xfrm>
            <a:off x="7456932" y="5102352"/>
            <a:ext cx="1165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732520" y="4535424"/>
            <a:ext cx="310896" cy="310896"/>
          </a:xfrm>
          <a:prstGeom prst="ellipse">
            <a:avLst/>
          </a:prstGeom>
          <a:solidFill>
            <a:srgbClr val="24405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32520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732520" y="4901184"/>
            <a:ext cx="112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00" kern="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МІСЯЦЬ 2</a:t>
            </a:r>
            <a:endParaRPr lang="en-US" sz="860" dirty="0"/>
          </a:p>
        </p:txBody>
      </p:sp>
      <p:sp>
        <p:nvSpPr>
          <p:cNvPr id="43" name="Text 41"/>
          <p:cNvSpPr txBox="1"/>
          <p:nvPr/>
        </p:nvSpPr>
        <p:spPr>
          <a:xfrm>
            <a:off x="8732520" y="5102352"/>
            <a:ext cx="1165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0008108" y="4535424"/>
            <a:ext cx="310896" cy="310896"/>
          </a:xfrm>
          <a:prstGeom prst="ellipse">
            <a:avLst/>
          </a:prstGeom>
          <a:solidFill>
            <a:srgbClr val="24405F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0810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0008108" y="4901184"/>
            <a:ext cx="11292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00" kern="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МІСЯЦЬ 3+</a:t>
            </a:r>
            <a:endParaRPr lang="en-US" sz="860" dirty="0"/>
          </a:p>
        </p:txBody>
      </p:sp>
      <p:sp>
        <p:nvSpPr>
          <p:cNvPr id="47" name="Text 45"/>
          <p:cNvSpPr txBox="1"/>
          <p:nvPr/>
        </p:nvSpPr>
        <p:spPr>
          <a:xfrm>
            <a:off x="10008108" y="5102352"/>
            <a:ext cx="1165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181344" y="5413248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Оплата: абонплата за активну базу в регіоні + разове впровадження. Орієнтир — 400 тис. грн/міс на 400 тис. абонентів у 10 районах.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6928" y="6053328"/>
            <a:ext cx="118872" cy="118872"/>
          </a:xfrm>
          <a:prstGeom prst="ellipse">
            <a:avLst/>
          </a:prstGeom>
          <a:solidFill>
            <a:srgbClr val="D42A3C"/>
          </a:solidFill>
          <a:ln w="12700">
            <a:solidFill>
              <a:srgbClr val="D42A3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86384" y="59618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крок: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2624328" y="5961888"/>
            <a:ext cx="8421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демонстрація на вашому окрузі  ·  пілот на 8 тижнів  ·  розрахунок бюджету під ваш регіон</a:t>
            </a:r>
            <a:endParaRPr lang="en-US" sz="1250" dirty="0"/>
          </a:p>
        </p:txBody>
      </p:sp>
      <p:sp>
        <p:nvSpPr>
          <p:cNvPr id="53" name="Text 50"/>
          <p:cNvSpPr txBox="1"/>
          <p:nvPr/>
        </p:nvSpPr>
        <p:spPr>
          <a:xfrm>
            <a:off x="11045952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Партія як цифрова платформа — коротко</dc:title>
  <dc:subject>PptxGenJS Presentation</dc:subject>
  <dc:creator>Платформа «Батьківщина»</dc:creator>
  <cp:lastModifiedBy>Платформа «Батьківщина»</cp:lastModifiedBy>
  <cp:revision>1</cp:revision>
  <dcterms:created xsi:type="dcterms:W3CDTF">2026-09-15T13:47:43Z</dcterms:created>
  <dcterms:modified xsi:type="dcterms:W3CDTF">2026-09-15T13:47:43Z</dcterms:modified>
</cp:coreProperties>
</file>